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8" r:id="rId1"/>
  </p:sldMasterIdLst>
  <p:sldIdLst>
    <p:sldId id="256" r:id="rId2"/>
    <p:sldId id="257" r:id="rId3"/>
    <p:sldId id="258" r:id="rId4"/>
    <p:sldId id="264" r:id="rId5"/>
    <p:sldId id="266" r:id="rId6"/>
    <p:sldId id="273" r:id="rId7"/>
    <p:sldId id="274" r:id="rId8"/>
    <p:sldId id="275" r:id="rId9"/>
    <p:sldId id="276" r:id="rId10"/>
    <p:sldId id="277" r:id="rId11"/>
    <p:sldId id="278" r:id="rId12"/>
    <p:sldId id="260" r:id="rId13"/>
    <p:sldId id="262" r:id="rId14"/>
    <p:sldId id="263" r:id="rId15"/>
    <p:sldId id="265" r:id="rId16"/>
    <p:sldId id="27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86"/>
    <p:restoredTop sz="94702"/>
  </p:normalViewPr>
  <p:slideViewPr>
    <p:cSldViewPr snapToGrid="0">
      <p:cViewPr>
        <p:scale>
          <a:sx n="114" d="100"/>
          <a:sy n="114" d="100"/>
        </p:scale>
        <p:origin x="39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82762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B4CE-73F4-7348-A899-D1BE3BE31C4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CE9D76FF-1018-764F-B6FD-050C04802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785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B4CE-73F4-7348-A899-D1BE3BE31C4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76FF-1018-764F-B6FD-050C04802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039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C00B4CE-73F4-7348-A899-D1BE3BE31C4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E9D76FF-1018-764F-B6FD-050C04802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04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B4CE-73F4-7348-A899-D1BE3BE31C4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76FF-1018-764F-B6FD-050C04802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84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B4CE-73F4-7348-A899-D1BE3BE31C4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76FF-1018-764F-B6FD-050C048025A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51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B4CE-73F4-7348-A899-D1BE3BE31C4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76FF-1018-764F-B6FD-050C048025A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3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B4CE-73F4-7348-A899-D1BE3BE31C4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76FF-1018-764F-B6FD-050C04802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55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B4CE-73F4-7348-A899-D1BE3BE31C4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76FF-1018-764F-B6FD-050C04802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7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5C00B4CE-73F4-7348-A899-D1BE3BE31C4E}" type="datetimeFigureOut">
              <a:rPr lang="en-US" smtClean="0"/>
              <a:t>12/21/25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76FF-1018-764F-B6FD-050C04802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20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B4CE-73F4-7348-A899-D1BE3BE31C4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76FF-1018-764F-B6FD-050C04802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5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B4CE-73F4-7348-A899-D1BE3BE31C4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76FF-1018-764F-B6FD-050C04802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91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C00B4CE-73F4-7348-A899-D1BE3BE31C4E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E9D76FF-1018-764F-B6FD-050C04802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1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2"/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10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8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docs.python.org/3/library/tkinter.html" TargetMode="External"/><Relationship Id="rId7" Type="http://schemas.microsoft.com/office/2007/relationships/hdphoto" Target="../media/hdphoto2.wdp"/><Relationship Id="rId2" Type="http://schemas.openxmlformats.org/officeDocument/2006/relationships/hyperlink" Target="https://docs.python.org/3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www.python.org/community/" TargetMode="External"/><Relationship Id="rId4" Type="http://schemas.openxmlformats.org/officeDocument/2006/relationships/hyperlink" Target="https://stackoverflow.com/questions/tagged/python" TargetMode="External"/><Relationship Id="rId9" Type="http://schemas.microsoft.com/office/2007/relationships/hdphoto" Target="../media/hdphoto3.wdp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2.wdp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eet2gunisha-lang/tictactoe" TargetMode="Externa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85055-ED5E-4F26-7CA3-E7885825F2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-apple-system"/>
              </a:rPr>
              <a:t>INTERACTIVE </a:t>
            </a:r>
            <a:br>
              <a:rPr lang="en-IN" b="1" dirty="0">
                <a:solidFill>
                  <a:schemeClr val="tx1"/>
                </a:solidFill>
                <a:latin typeface="-apple-system"/>
              </a:rPr>
            </a:br>
            <a:r>
              <a:rPr lang="en-IN" b="1" dirty="0">
                <a:solidFill>
                  <a:schemeClr val="tx1"/>
                </a:solidFill>
                <a:latin typeface="-apple-system"/>
              </a:rPr>
              <a:t>TIC-TAC-TOE GAME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A2C39E-9590-2817-69DD-44461EA7F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560" y="4756887"/>
            <a:ext cx="9070848" cy="111895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sz="2600" dirty="0">
                <a:solidFill>
                  <a:schemeClr val="tx1"/>
                </a:solidFill>
                <a:latin typeface="Aparajita" panose="02020603050405020304" pitchFamily="18" charset="0"/>
                <a:ea typeface="Annai MN" pitchFamily="2" charset="77"/>
                <a:cs typeface="Aparajita" panose="02020603050405020304" pitchFamily="18" charset="0"/>
              </a:rPr>
              <a:t>Developed by: </a:t>
            </a:r>
            <a:r>
              <a:rPr lang="en-IN" sz="2600" dirty="0" err="1">
                <a:solidFill>
                  <a:schemeClr val="tx1"/>
                </a:solidFill>
                <a:latin typeface="Aparajita" panose="02020603050405020304" pitchFamily="18" charset="0"/>
                <a:ea typeface="Annai MN" pitchFamily="2" charset="77"/>
                <a:cs typeface="Aparajita" panose="02020603050405020304" pitchFamily="18" charset="0"/>
              </a:rPr>
              <a:t>Gunisha</a:t>
            </a:r>
            <a:r>
              <a:rPr lang="en-IN" sz="2600" dirty="0">
                <a:solidFill>
                  <a:schemeClr val="tx1"/>
                </a:solidFill>
                <a:latin typeface="Aparajita" panose="02020603050405020304" pitchFamily="18" charset="0"/>
                <a:ea typeface="Annai MN" pitchFamily="2" charset="77"/>
                <a:cs typeface="Aparajita" panose="02020603050405020304" pitchFamily="18" charset="0"/>
              </a:rPr>
              <a:t> Agarwal (XI-B)  &amp; Anushka S (XI-A)</a:t>
            </a:r>
            <a:br>
              <a:rPr lang="en-IN" sz="2600" dirty="0">
                <a:solidFill>
                  <a:schemeClr val="tx1"/>
                </a:solidFill>
                <a:latin typeface="Aparajita" panose="02020603050405020304" pitchFamily="18" charset="0"/>
                <a:ea typeface="Annai MN" pitchFamily="2" charset="77"/>
                <a:cs typeface="Aparajita" panose="02020603050405020304" pitchFamily="18" charset="0"/>
              </a:rPr>
            </a:br>
            <a:r>
              <a:rPr lang="en-IN" sz="2600" b="1" dirty="0">
                <a:solidFill>
                  <a:schemeClr val="tx1"/>
                </a:solidFill>
                <a:latin typeface="Aparajita" panose="02020603050405020304" pitchFamily="18" charset="0"/>
                <a:ea typeface="Annai MN" pitchFamily="2" charset="77"/>
                <a:cs typeface="Aparajita" panose="02020603050405020304" pitchFamily="18" charset="0"/>
              </a:rPr>
              <a:t>Subject:</a:t>
            </a:r>
            <a:r>
              <a:rPr lang="en-IN" sz="2600" dirty="0">
                <a:solidFill>
                  <a:schemeClr val="tx1"/>
                </a:solidFill>
                <a:latin typeface="Aparajita" panose="02020603050405020304" pitchFamily="18" charset="0"/>
                <a:ea typeface="Annai MN" pitchFamily="2" charset="77"/>
                <a:cs typeface="Aparajita" panose="02020603050405020304" pitchFamily="18" charset="0"/>
              </a:rPr>
              <a:t> Computer Science</a:t>
            </a:r>
            <a:br>
              <a:rPr lang="en-IN" sz="2600" dirty="0">
                <a:solidFill>
                  <a:schemeClr val="tx1"/>
                </a:solidFill>
                <a:latin typeface="Aparajita" panose="02020603050405020304" pitchFamily="18" charset="0"/>
                <a:ea typeface="Annai MN" pitchFamily="2" charset="77"/>
                <a:cs typeface="Aparajita" panose="02020603050405020304" pitchFamily="18" charset="0"/>
              </a:rPr>
            </a:br>
            <a:r>
              <a:rPr lang="en-IN" sz="2600" b="1" dirty="0">
                <a:solidFill>
                  <a:schemeClr val="tx1"/>
                </a:solidFill>
                <a:latin typeface="Aparajita" panose="02020603050405020304" pitchFamily="18" charset="0"/>
                <a:ea typeface="Annai MN" pitchFamily="2" charset="77"/>
                <a:cs typeface="Aparajita" panose="02020603050405020304" pitchFamily="18" charset="0"/>
              </a:rPr>
              <a:t>Academic Year:</a:t>
            </a:r>
            <a:r>
              <a:rPr lang="en-IN" sz="2600" dirty="0">
                <a:solidFill>
                  <a:schemeClr val="tx1"/>
                </a:solidFill>
                <a:latin typeface="Aparajita" panose="02020603050405020304" pitchFamily="18" charset="0"/>
                <a:ea typeface="Annai MN" pitchFamily="2" charset="77"/>
                <a:cs typeface="Aparajita" panose="02020603050405020304" pitchFamily="18" charset="0"/>
              </a:rPr>
              <a:t> 2025-2026</a:t>
            </a:r>
            <a:br>
              <a:rPr lang="en-IN" sz="2600" dirty="0">
                <a:solidFill>
                  <a:schemeClr val="tx1"/>
                </a:solidFill>
                <a:latin typeface="Aparajita" panose="02020603050405020304" pitchFamily="18" charset="0"/>
                <a:ea typeface="Annai MN" pitchFamily="2" charset="77"/>
                <a:cs typeface="Aparajita" panose="02020603050405020304" pitchFamily="18" charset="0"/>
              </a:rPr>
            </a:br>
            <a:r>
              <a:rPr lang="en-IN" sz="2600" b="1" dirty="0">
                <a:solidFill>
                  <a:schemeClr val="tx1"/>
                </a:solidFill>
                <a:latin typeface="Aparajita" panose="02020603050405020304" pitchFamily="18" charset="0"/>
                <a:ea typeface="Annai MN" pitchFamily="2" charset="77"/>
                <a:cs typeface="Aparajita" panose="02020603050405020304" pitchFamily="18" charset="0"/>
              </a:rPr>
              <a:t>Programming Language:</a:t>
            </a:r>
            <a:r>
              <a:rPr lang="en-IN" sz="2600" dirty="0">
                <a:solidFill>
                  <a:schemeClr val="tx1"/>
                </a:solidFill>
                <a:latin typeface="Aparajita" panose="02020603050405020304" pitchFamily="18" charset="0"/>
                <a:ea typeface="Annai MN" pitchFamily="2" charset="77"/>
                <a:cs typeface="Aparajita" panose="02020603050405020304" pitchFamily="18" charset="0"/>
              </a:rPr>
              <a:t> Python</a:t>
            </a:r>
          </a:p>
          <a:p>
            <a:pPr algn="l"/>
            <a:endParaRPr lang="en-IN" b="1" dirty="0">
              <a:solidFill>
                <a:srgbClr val="CCCCCC"/>
              </a:solidFill>
              <a:latin typeface="AkayaTelivigala" pitchFamily="2" charset="77"/>
              <a:cs typeface="AkayaTelivigala" pitchFamily="2" charset="77"/>
            </a:endParaRPr>
          </a:p>
          <a:p>
            <a:endParaRPr lang="en-US" dirty="0">
              <a:latin typeface="AkayaTelivigala" pitchFamily="2" charset="77"/>
              <a:cs typeface="AkayaTelivigala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94E7DC-DDBD-2823-84E2-6370BA2A87B3}"/>
              </a:ext>
            </a:extLst>
          </p:cNvPr>
          <p:cNvSpPr txBox="1"/>
          <p:nvPr/>
        </p:nvSpPr>
        <p:spPr>
          <a:xfrm>
            <a:off x="4428011" y="3758184"/>
            <a:ext cx="333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dirty="0">
                <a:latin typeface="-apple-system"/>
              </a:rPr>
              <a:t>A GUI-Based Gaming Application</a:t>
            </a:r>
          </a:p>
        </p:txBody>
      </p:sp>
    </p:spTree>
    <p:extLst>
      <p:ext uri="{BB962C8B-B14F-4D97-AF65-F5344CB8AC3E}">
        <p14:creationId xmlns:p14="http://schemas.microsoft.com/office/powerpoint/2010/main" val="4061684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4C9E21-9D94-FCE9-9448-51F7EEB7A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IN" sz="1900">
                <a:solidFill>
                  <a:srgbClr val="FFFFFF"/>
                </a:solidFill>
              </a:rPr>
              <a:t>ACKNOWLEDGMENTS</a:t>
            </a:r>
            <a:endParaRPr lang="en-US" sz="1900">
              <a:solidFill>
                <a:srgbClr val="FFFFFF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9C9BC-1F7D-2C34-5A16-F8F9BF477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089" y="725394"/>
            <a:ext cx="5142658" cy="540721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dirty="0"/>
              <a:t>We would like to express our sincere gratitude to </a:t>
            </a:r>
            <a:r>
              <a:rPr lang="en-IN" b="1" dirty="0"/>
              <a:t>Ms. Divya Saini (Teacher - Computer Science)</a:t>
            </a:r>
            <a:r>
              <a:rPr lang="en-IN" dirty="0"/>
              <a:t> for her invaluable guidance, continuous support, and expert mentorship throughout the development of this project, and to </a:t>
            </a:r>
            <a:r>
              <a:rPr lang="en-IN" b="1" dirty="0"/>
              <a:t>Ms. Sinia Sajith (Principal - Euro School, Whitefield)</a:t>
            </a:r>
            <a:r>
              <a:rPr lang="en-IN" dirty="0"/>
              <a:t> for providing the necessary resources, computer lab facilities, and fostering an environment that encourages innovation and learning in computer science education.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187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A1316-012C-6660-04C7-74A8FAFA2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IN"/>
              <a:t>PROJECT OVERVIEW</a:t>
            </a:r>
            <a:endParaRPr lang="en-US"/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654BBF50-BB64-D42E-9827-AC9A50345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lang="en-IN" dirty="0"/>
              <a:t>The Tic-Tac-Toe Game Application is an interactive, GUI-based implementation of the classic 3×3 grid game. </a:t>
            </a:r>
          </a:p>
          <a:p>
            <a:r>
              <a:rPr lang="en-IN" dirty="0"/>
              <a:t>The application features:</a:t>
            </a:r>
          </a:p>
          <a:p>
            <a:pPr lvl="1"/>
            <a:r>
              <a:rPr lang="en-IN" b="1" dirty="0"/>
              <a:t>Multi-page Interface</a:t>
            </a:r>
            <a:r>
              <a:rPr lang="en-IN" dirty="0"/>
              <a:t>: Menu, Easy Mode, and Hard Mode</a:t>
            </a:r>
          </a:p>
          <a:p>
            <a:pPr lvl="1"/>
            <a:r>
              <a:rPr lang="en-IN" b="1" dirty="0"/>
              <a:t>Two Difficulty Levels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Easy Mode: Random computer moves</a:t>
            </a:r>
          </a:p>
          <a:p>
            <a:pPr lvl="2"/>
            <a:r>
              <a:rPr lang="en-IN" dirty="0"/>
              <a:t>Hard Mode: Strategic AI with intelligent decision-making</a:t>
            </a:r>
          </a:p>
          <a:p>
            <a:pPr lvl="1"/>
            <a:r>
              <a:rPr lang="en-IN" b="1" dirty="0"/>
              <a:t>User-Friendly GUI</a:t>
            </a:r>
            <a:r>
              <a:rPr lang="en-IN" dirty="0"/>
              <a:t>: Clean, </a:t>
            </a:r>
            <a:r>
              <a:rPr lang="en-IN" dirty="0" err="1"/>
              <a:t>colorful</a:t>
            </a:r>
            <a:r>
              <a:rPr lang="en-IN" dirty="0"/>
              <a:t> interface with intuitive controls</a:t>
            </a:r>
          </a:p>
          <a:p>
            <a:pPr lvl="1"/>
            <a:r>
              <a:rPr lang="en-IN" b="1" dirty="0"/>
              <a:t>Game Logic</a:t>
            </a:r>
            <a:r>
              <a:rPr lang="en-IN" dirty="0"/>
              <a:t>: Complete win/lose/tie detection and board reset functionality</a:t>
            </a:r>
          </a:p>
          <a:p>
            <a:endParaRPr lang="en-US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0284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FCA88C2-C73C-4062-A097-8FBCE3090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3981C21-E132-4402-B31B-D725C1CE7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653241"/>
            <a:ext cx="109087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A685C77-4E84-486A-9AE5-F3635BE98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2" y="822324"/>
            <a:ext cx="5149596" cy="5228279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D36095-3FEA-D969-CFDB-DA1791C3C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89" y="1457120"/>
            <a:ext cx="4712422" cy="3941345"/>
          </a:xfrm>
        </p:spPr>
        <p:txBody>
          <a:bodyPr>
            <a:normAutofit/>
          </a:bodyPr>
          <a:lstStyle/>
          <a:p>
            <a:r>
              <a:rPr lang="en-US" sz="6000" dirty="0"/>
              <a:t>TIC TAC TOE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AEF8EF6-9A54-774C-1579-96847DC3A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3" y="1359090"/>
            <a:ext cx="5132665" cy="404804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900" b="1" dirty="0"/>
              <a:t>How Our Application Works</a:t>
            </a:r>
          </a:p>
          <a:p>
            <a:r>
              <a:rPr lang="en-IN" sz="1900" b="1" dirty="0"/>
              <a:t>Player vs Computer</a:t>
            </a:r>
            <a:r>
              <a:rPr lang="en-IN" sz="1900" dirty="0"/>
              <a:t>: Human player always uses 'X', computer uses 'O'</a:t>
            </a:r>
          </a:p>
          <a:p>
            <a:r>
              <a:rPr lang="en-IN" sz="1900" b="1" dirty="0"/>
              <a:t>Turn-Based Play</a:t>
            </a:r>
            <a:r>
              <a:rPr lang="en-IN" sz="1900" dirty="0"/>
              <a:t>: Player clicks a square to make a move, computer responds immediately</a:t>
            </a:r>
          </a:p>
          <a:p>
            <a:r>
              <a:rPr lang="en-IN" sz="1900" b="1" dirty="0"/>
              <a:t>Visual Feedback</a:t>
            </a:r>
            <a:r>
              <a:rPr lang="en-IN" sz="1900" dirty="0"/>
              <a:t>: Buttons disable after use and display the chosen symbol</a:t>
            </a:r>
          </a:p>
          <a:p>
            <a:r>
              <a:rPr lang="en-IN" sz="1900" b="1" dirty="0"/>
              <a:t>Win Conditions</a:t>
            </a:r>
            <a:r>
              <a:rPr lang="en-IN" sz="1900" dirty="0"/>
              <a:t>: Three in a row (horizontal, vertical, or diagonal) triggers game end</a:t>
            </a:r>
          </a:p>
          <a:p>
            <a:r>
              <a:rPr lang="en-IN" sz="1900" b="1" dirty="0"/>
              <a:t>Result Display</a:t>
            </a:r>
            <a:r>
              <a:rPr lang="en-IN" sz="1900" dirty="0"/>
              <a:t>: Pop-up messages announce the winner</a:t>
            </a:r>
          </a:p>
          <a:p>
            <a:pPr marL="0" indent="0">
              <a:buNone/>
            </a:pPr>
            <a:endParaRPr lang="en-US" sz="19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5C1C3E-5158-47F3-8FD9-14B22C3E6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6121662"/>
            <a:ext cx="109087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41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211475-3C00-8E34-804B-E692AD87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3000">
                <a:solidFill>
                  <a:srgbClr val="FFFFFF"/>
                </a:solidFill>
              </a:rPr>
              <a:t>Easy vs Hard Mode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73F39-41AF-F6EB-E835-C497C9475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089" y="725394"/>
            <a:ext cx="5142658" cy="540721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b="1" dirty="0"/>
              <a:t>Easy Mode:</a:t>
            </a:r>
          </a:p>
          <a:p>
            <a:r>
              <a:rPr lang="en-IN" b="1" dirty="0"/>
              <a:t>Random Strategy</a:t>
            </a:r>
            <a:r>
              <a:rPr lang="en-IN" dirty="0"/>
              <a:t>: Our code selects any available empty square randomly</a:t>
            </a:r>
          </a:p>
          <a:p>
            <a:pPr marL="0" indent="0">
              <a:buNone/>
            </a:pPr>
            <a:r>
              <a:rPr lang="en-IN" b="1" dirty="0"/>
              <a:t>Hard Mode:</a:t>
            </a:r>
          </a:p>
          <a:p>
            <a:r>
              <a:rPr lang="en-IN" b="1" dirty="0"/>
              <a:t>Strategic Moves</a:t>
            </a:r>
            <a:r>
              <a:rPr lang="en-IN" dirty="0"/>
              <a:t>: Our code </a:t>
            </a:r>
            <a:r>
              <a:rPr lang="en-IN" dirty="0" err="1"/>
              <a:t>analyzes</a:t>
            </a:r>
            <a:r>
              <a:rPr lang="en-IN" dirty="0"/>
              <a:t> the board state and makes calculated moves</a:t>
            </a:r>
          </a:p>
          <a:p>
            <a:r>
              <a:rPr lang="en-IN" b="1" dirty="0"/>
              <a:t>Intelligent </a:t>
            </a:r>
            <a:r>
              <a:rPr lang="en-IN" b="1" dirty="0" err="1"/>
              <a:t>Defense</a:t>
            </a:r>
            <a:r>
              <a:rPr lang="en-IN" dirty="0"/>
              <a:t>: Our code blocks player's winning moves automatically</a:t>
            </a:r>
          </a:p>
          <a:p>
            <a:r>
              <a:rPr lang="en-IN" b="1" dirty="0"/>
              <a:t>Offensive Play</a:t>
            </a:r>
            <a:r>
              <a:rPr lang="en-IN" dirty="0"/>
              <a:t>: Our code actively seeks winning opportunities</a:t>
            </a:r>
          </a:p>
          <a:p>
            <a:pPr marL="0" indent="0">
              <a:buNone/>
            </a:pPr>
            <a:r>
              <a:rPr lang="en-IN" b="1" i="1" dirty="0">
                <a:solidFill>
                  <a:srgbClr val="00B050"/>
                </a:solidFill>
              </a:rPr>
              <a:t>Special Note: </a:t>
            </a:r>
            <a:r>
              <a:rPr lang="en-IN" i="1" dirty="0">
                <a:solidFill>
                  <a:srgbClr val="00B050"/>
                </a:solidFill>
              </a:rPr>
              <a:t>It is impossible to beat the computer in hard mode due to the advance intelligence of our code </a:t>
            </a:r>
            <a:r>
              <a:rPr lang="en-IN" i="1" dirty="0">
                <a:solidFill>
                  <a:srgbClr val="00B050"/>
                </a:solidFill>
                <a:sym typeface="Wingdings" pitchFamily="2" charset="2"/>
              </a:rPr>
              <a:t></a:t>
            </a:r>
            <a:endParaRPr lang="en-IN" b="1" i="1" dirty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027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67A1D1-E271-AE61-8D01-4B061F400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749AA4F-35D9-277E-EC04-B1F238DD6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95EF2B-1DE1-797A-82A4-88B908955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EC5136-74A0-38A0-927A-621A814A2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A44B40-2029-9F21-BD42-8B6CF2A4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D79514-BCFC-EF20-8D8B-AB93A8B3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IN" dirty="0"/>
              <a:t>LIBRARIES USED</a:t>
            </a:r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24C1BA9-264F-4D00-C88C-9B434D10F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F891304-0982-B412-6098-544427FD1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A2D150-56A4-EDC4-EC85-1FDE01D7C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342257"/>
              </p:ext>
            </p:extLst>
          </p:nvPr>
        </p:nvGraphicFramePr>
        <p:xfrm>
          <a:off x="1149096" y="2358483"/>
          <a:ext cx="10058400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64647">
                  <a:extLst>
                    <a:ext uri="{9D8B030D-6E8A-4147-A177-3AD203B41FA5}">
                      <a16:colId xmlns:a16="http://schemas.microsoft.com/office/drawing/2014/main" val="3578296956"/>
                    </a:ext>
                  </a:extLst>
                </a:gridCol>
                <a:gridCol w="4893753">
                  <a:extLst>
                    <a:ext uri="{9D8B030D-6E8A-4147-A177-3AD203B41FA5}">
                      <a16:colId xmlns:a16="http://schemas.microsoft.com/office/drawing/2014/main" val="37317433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b="1" dirty="0" err="1"/>
                        <a:t>Tkinter</a:t>
                      </a:r>
                      <a:r>
                        <a:rPr lang="en-IN" b="1" dirty="0"/>
                        <a:t> (Built-in)</a:t>
                      </a:r>
                    </a:p>
                    <a:p>
                      <a:pPr lvl="1"/>
                      <a:r>
                        <a:rPr lang="en-IN" i="1" dirty="0"/>
                        <a:t>import </a:t>
                      </a:r>
                      <a:r>
                        <a:rPr lang="en-IN" i="1" dirty="0" err="1"/>
                        <a:t>tkinter</a:t>
                      </a:r>
                      <a:r>
                        <a:rPr lang="en-IN" i="1" dirty="0"/>
                        <a:t> as </a:t>
                      </a:r>
                      <a:r>
                        <a:rPr lang="en-IN" i="1" dirty="0" err="1"/>
                        <a:t>tk</a:t>
                      </a:r>
                      <a:r>
                        <a:rPr lang="en-IN" i="1" dirty="0"/>
                        <a:t> </a:t>
                      </a:r>
                    </a:p>
                    <a:p>
                      <a:pPr lvl="1"/>
                      <a:r>
                        <a:rPr lang="en-IN" i="1" dirty="0"/>
                        <a:t>from </a:t>
                      </a:r>
                      <a:r>
                        <a:rPr lang="en-IN" i="1" dirty="0" err="1"/>
                        <a:t>tkinter</a:t>
                      </a:r>
                      <a:r>
                        <a:rPr lang="en-IN" i="1" dirty="0"/>
                        <a:t> import </a:t>
                      </a:r>
                      <a:r>
                        <a:rPr lang="en-IN" i="1" dirty="0" err="1"/>
                        <a:t>messagebox</a:t>
                      </a:r>
                      <a:endParaRPr lang="en-IN" i="1" dirty="0"/>
                    </a:p>
                    <a:p>
                      <a:pPr lvl="1"/>
                      <a:endParaRPr lang="en-IN" i="1" dirty="0"/>
                    </a:p>
                    <a:p>
                      <a:pPr marL="0" indent="0">
                        <a:buNone/>
                      </a:pPr>
                      <a:r>
                        <a:rPr lang="en-IN" b="1" dirty="0"/>
                        <a:t>Purpose</a:t>
                      </a:r>
                      <a:r>
                        <a:rPr lang="en-IN" dirty="0"/>
                        <a:t>: Creating the graphical user interface</a:t>
                      </a:r>
                    </a:p>
                    <a:p>
                      <a:pPr marL="0" indent="0">
                        <a:buNone/>
                      </a:pPr>
                      <a:endParaRPr lang="en-IN" dirty="0"/>
                    </a:p>
                    <a:p>
                      <a:pPr marL="0" indent="0">
                        <a:buNone/>
                      </a:pPr>
                      <a:r>
                        <a:rPr lang="en-IN" b="1" dirty="0"/>
                        <a:t>Features Used</a:t>
                      </a:r>
                      <a:r>
                        <a:rPr lang="en-IN" dirty="0"/>
                        <a:t>:</a:t>
                      </a:r>
                    </a:p>
                    <a:p>
                      <a:pPr lvl="1"/>
                      <a:r>
                        <a:rPr lang="en-IN" dirty="0"/>
                        <a:t>Windows and frames for multi-page navigation</a:t>
                      </a:r>
                    </a:p>
                    <a:p>
                      <a:pPr lvl="1"/>
                      <a:r>
                        <a:rPr lang="en-IN" dirty="0"/>
                        <a:t>Buttons for game interaction</a:t>
                      </a:r>
                    </a:p>
                    <a:p>
                      <a:pPr lvl="1"/>
                      <a:r>
                        <a:rPr lang="en-IN" dirty="0"/>
                        <a:t>Message boxes for game results</a:t>
                      </a:r>
                    </a:p>
                    <a:p>
                      <a:pPr lvl="1"/>
                      <a:r>
                        <a:rPr lang="en-IN" dirty="0"/>
                        <a:t>Grid layout management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b="1" dirty="0"/>
                        <a:t>Random (Built-in)</a:t>
                      </a:r>
                    </a:p>
                    <a:p>
                      <a:pPr lvl="1"/>
                      <a:r>
                        <a:rPr lang="en-IN" i="1" dirty="0"/>
                        <a:t>import random</a:t>
                      </a:r>
                    </a:p>
                    <a:p>
                      <a:pPr lvl="1"/>
                      <a:endParaRPr lang="en-IN" i="1" dirty="0"/>
                    </a:p>
                    <a:p>
                      <a:pPr marL="0" indent="0">
                        <a:buNone/>
                      </a:pPr>
                      <a:endParaRPr lang="en-IN" b="1" dirty="0"/>
                    </a:p>
                    <a:p>
                      <a:pPr marL="0" indent="0">
                        <a:buNone/>
                      </a:pPr>
                      <a:r>
                        <a:rPr lang="en-IN" b="1" dirty="0"/>
                        <a:t>Purpose</a:t>
                      </a:r>
                      <a:r>
                        <a:rPr lang="en-IN" dirty="0"/>
                        <a:t>: Implementing computer AI moves</a:t>
                      </a:r>
                    </a:p>
                    <a:p>
                      <a:pPr marL="0" indent="0">
                        <a:buNone/>
                      </a:pPr>
                      <a:endParaRPr lang="en-IN" dirty="0"/>
                    </a:p>
                    <a:p>
                      <a:pPr marL="0" indent="0">
                        <a:buNone/>
                      </a:pPr>
                      <a:r>
                        <a:rPr lang="en-IN" b="1" dirty="0"/>
                        <a:t>Features Used</a:t>
                      </a:r>
                      <a:r>
                        <a:rPr lang="en-IN" dirty="0"/>
                        <a:t>:</a:t>
                      </a:r>
                    </a:p>
                    <a:p>
                      <a:pPr lvl="1"/>
                      <a:r>
                        <a:rPr lang="en-IN" dirty="0"/>
                        <a:t>Random choice selection for easy mode</a:t>
                      </a:r>
                    </a:p>
                    <a:p>
                      <a:pPr lvl="1"/>
                      <a:r>
                        <a:rPr lang="en-IN" dirty="0"/>
                        <a:t>Strategic move selection in hard mode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372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521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F0277F-EDC2-5178-0285-BECE3DF61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730DA6B-DEE8-E078-E0FD-DE4588D5A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93CDE5-A74D-F0CC-674D-E1F7690AF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8BBFE1-2C2A-1B62-189E-E34A9C54E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D81C60C-B28F-0D1A-F8EA-803537448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41D30-8F96-EA45-3440-77C3408AA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IN" dirty="0"/>
              <a:t>APPLICATION SCREENSHOTS</a:t>
            </a:r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4D3ADC2-16E9-674C-821B-096D2697A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44C5E5B-4C86-209D-2B61-CC2663C5C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CB1D2B-D8E2-6A24-2AC9-A4D648E19D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063753" y="2177007"/>
            <a:ext cx="3931994" cy="4235471"/>
          </a:xfrm>
        </p:spPr>
      </p:pic>
      <p:pic>
        <p:nvPicPr>
          <p:cNvPr id="11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F90C5D-D05C-1744-01B4-0688DEFBB6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0907" y="2208657"/>
            <a:ext cx="1910304" cy="2057251"/>
          </a:xfrm>
          <a:prstGeom prst="rect">
            <a:avLst/>
          </a:prstGeom>
        </p:spPr>
      </p:pic>
      <p:pic>
        <p:nvPicPr>
          <p:cNvPr id="12" name="Content Placeholder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3B6DCC-9851-0584-5D10-1EA3CDE2C4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0907" y="4355227"/>
            <a:ext cx="1910305" cy="2057252"/>
          </a:xfrm>
          <a:prstGeom prst="rect">
            <a:avLst/>
          </a:prstGeom>
        </p:spPr>
      </p:pic>
      <p:sp>
        <p:nvSpPr>
          <p:cNvPr id="13" name="Right Arrow 12">
            <a:extLst>
              <a:ext uri="{FF2B5EF4-FFF2-40B4-BE49-F238E27FC236}">
                <a16:creationId xmlns:a16="http://schemas.microsoft.com/office/drawing/2014/main" id="{3F9E6D16-32A6-6E53-2B5B-49002C27EFE9}"/>
              </a:ext>
            </a:extLst>
          </p:cNvPr>
          <p:cNvSpPr/>
          <p:nvPr/>
        </p:nvSpPr>
        <p:spPr>
          <a:xfrm>
            <a:off x="5524165" y="2667946"/>
            <a:ext cx="2166258" cy="914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BA4A21A7-9961-D8E3-8253-C339A63A1C86}"/>
              </a:ext>
            </a:extLst>
          </p:cNvPr>
          <p:cNvSpPr/>
          <p:nvPr/>
        </p:nvSpPr>
        <p:spPr>
          <a:xfrm>
            <a:off x="5524165" y="4926653"/>
            <a:ext cx="2166258" cy="914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39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ABF46-D070-1839-3579-1036B1316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8FB7304-3EEC-251C-9B16-03B264AF3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D4E159-133D-B4DB-1EDE-BB3564D32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39E494-1208-4F28-63C1-2EA4CF0DB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7A136A-5273-C4FA-2691-AA929A626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4B60E-6534-6373-6A14-CB644602E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IN" dirty="0"/>
              <a:t>APPLICATION SCREENSHOTS</a:t>
            </a:r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5D605BF-F77D-157E-2896-0CE5BB4A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6E7A43C-9C0A-F09B-672A-E4DD90DE37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ED53A4-5D2D-C6FA-5667-F3C039DCE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984504" y="2309811"/>
            <a:ext cx="3761921" cy="4051300"/>
          </a:xfr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A8F7F9-3BB3-F651-86E8-818E79541C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9233" y="2290761"/>
            <a:ext cx="3797300" cy="4089400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61F68F8C-9D05-A432-0030-789487790FF8}"/>
              </a:ext>
            </a:extLst>
          </p:cNvPr>
          <p:cNvSpPr/>
          <p:nvPr/>
        </p:nvSpPr>
        <p:spPr>
          <a:xfrm>
            <a:off x="4914700" y="3959704"/>
            <a:ext cx="2166258" cy="914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44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F6C6C7-08E0-6BE1-AC62-BFE2EEAFE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D4A169B-6287-EE1F-1306-4D9514AA7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24F164-B76B-37D1-99F1-C7A889E22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5B1C36-C790-490E-21A0-9E7C957F9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EB75CC-D546-5C39-222A-4C9F92E84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C2EB68-81EE-D711-64AB-51494C0CF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IN" dirty="0"/>
              <a:t>APPLICATION SCREENSHOTS</a:t>
            </a:r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FC39499-9082-DBFD-7C84-9797F70F0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51FBFAC-C788-610F-1822-47769A751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15362074-4D73-A0F9-0D7B-D6C0899379FC}"/>
              </a:ext>
            </a:extLst>
          </p:cNvPr>
          <p:cNvSpPr/>
          <p:nvPr/>
        </p:nvSpPr>
        <p:spPr>
          <a:xfrm>
            <a:off x="4911071" y="3945619"/>
            <a:ext cx="2166258" cy="914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5EB623-6621-EF5F-C429-36788505D2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4677" y="2295726"/>
            <a:ext cx="3797300" cy="4089400"/>
          </a:xfrm>
          <a:prstGeom prst="rect">
            <a:avLst/>
          </a:prstGeom>
        </p:spPr>
      </p:pic>
      <p:pic>
        <p:nvPicPr>
          <p:cNvPr id="5" name="Content Placeholder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916FD9-F737-DD34-D812-25C3DB7FD3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984504" y="2295726"/>
            <a:ext cx="3761921" cy="4051300"/>
          </a:xfrm>
        </p:spPr>
      </p:pic>
    </p:spTree>
    <p:extLst>
      <p:ext uri="{BB962C8B-B14F-4D97-AF65-F5344CB8AC3E}">
        <p14:creationId xmlns:p14="http://schemas.microsoft.com/office/powerpoint/2010/main" val="2025723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998D80-5C48-3FE4-C397-F9B7A9A2C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B9707E2-D024-E6E9-AD4D-33F9934CF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039450-8748-5889-CA1F-03057C462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569FF7-83FF-12AD-D0B6-98E1B6296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D755289-A751-3525-30F3-D2CF221CF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443E5-DFDC-499B-69D7-269142572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IN" dirty="0"/>
              <a:t>APPLICATION SCREENSHOTS</a:t>
            </a:r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0C81607-E200-32E6-BA3C-63EF82B71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BF7FA82-6DA8-5B4C-FF56-9D0F247E0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21E33F64-30E9-0387-D75A-A1E49451AC73}"/>
              </a:ext>
            </a:extLst>
          </p:cNvPr>
          <p:cNvSpPr/>
          <p:nvPr/>
        </p:nvSpPr>
        <p:spPr>
          <a:xfrm>
            <a:off x="4915046" y="3971961"/>
            <a:ext cx="2166258" cy="914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4895F1-CB72-0C99-6FA5-572AF3115F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988479" y="2322068"/>
            <a:ext cx="3761921" cy="4051300"/>
          </a:xfr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6251B3-702B-EEAD-5E63-3834EC4539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5950" y="2322068"/>
            <a:ext cx="3822700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508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B9B70-A868-D705-20B6-C2FA9AE52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0B7F396-9E72-5120-3005-2B5559E4B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DE30A2-D9A1-7798-5705-7F3370CA7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95AE1E8-FFDC-5152-1BAC-E26DF213B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F47666C-530C-DA2F-89A7-BD64DEFE8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3B6D75-CB4E-387C-E738-9D33B3256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IN" dirty="0"/>
              <a:t>APPLICATION CODE SAMPLE</a:t>
            </a:r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725A489-14A6-BB36-C4CC-8640E2069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00B1AA0-3102-9E1C-178A-A7B5B7CA8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3260177-9732-B13A-9C5E-A6B2FF1092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2162507"/>
            <a:ext cx="3184422" cy="4524374"/>
          </a:xfrm>
          <a:prstGeom prst="rect">
            <a:avLst/>
          </a:prstGeom>
        </p:spPr>
      </p:pic>
      <p:pic>
        <p:nvPicPr>
          <p:cNvPr id="9" name="Picture 8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BABAA81E-9D9B-5A85-D95A-2520731A45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1037" y="2162507"/>
            <a:ext cx="6197774" cy="452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333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56FEAE-24BE-CB62-1DDC-7FE70346B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IN" dirty="0"/>
              <a:t>SCOPE FOR FUTURE DEVELOPMENT (GRADE 12)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6D9AF-C0BA-21CC-72B3-5879FFCBA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lang="en-IN" b="1" dirty="0"/>
              <a:t>Database Integration &amp; Enhanced Features</a:t>
            </a:r>
          </a:p>
          <a:p>
            <a:pPr lvl="1"/>
            <a:r>
              <a:rPr lang="en-IN" dirty="0"/>
              <a:t>Database Management System</a:t>
            </a:r>
            <a:endParaRPr lang="en-US" dirty="0"/>
          </a:p>
          <a:p>
            <a:r>
              <a:rPr lang="en-IN" b="1" dirty="0"/>
              <a:t>User Profile Management</a:t>
            </a:r>
          </a:p>
          <a:p>
            <a:pPr lvl="1"/>
            <a:r>
              <a:rPr lang="en-IN" dirty="0"/>
              <a:t>User registration and login system</a:t>
            </a:r>
          </a:p>
          <a:p>
            <a:pPr lvl="1"/>
            <a:r>
              <a:rPr lang="en-IN" dirty="0"/>
              <a:t>Statistics tracking and analytics</a:t>
            </a:r>
          </a:p>
          <a:p>
            <a:pPr lvl="1"/>
            <a:r>
              <a:rPr lang="en-IN" dirty="0"/>
              <a:t>Leaderboard and ranking system</a:t>
            </a:r>
          </a:p>
          <a:p>
            <a:r>
              <a:rPr lang="en-IN" b="1" dirty="0"/>
              <a:t>Game State Management</a:t>
            </a:r>
          </a:p>
          <a:p>
            <a:pPr lvl="1"/>
            <a:r>
              <a:rPr lang="en-IN" dirty="0"/>
              <a:t>Save and resume game functionality</a:t>
            </a:r>
          </a:p>
          <a:p>
            <a:pPr lvl="1"/>
            <a:r>
              <a:rPr lang="en-IN" dirty="0"/>
              <a:t>Tournaments between player and computer</a:t>
            </a:r>
          </a:p>
          <a:p>
            <a:pPr lvl="1"/>
            <a:r>
              <a:rPr lang="en-IN" dirty="0"/>
              <a:t>Timer based game control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753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C1FA8-0335-8797-DBE5-34402078D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50" y="844902"/>
            <a:ext cx="5818858" cy="516819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500" b="1"/>
              <a:t>Project Achievements</a:t>
            </a:r>
            <a:endParaRPr lang="en-IN" sz="1500"/>
          </a:p>
          <a:p>
            <a:pPr marL="0" indent="0">
              <a:buNone/>
            </a:pPr>
            <a:r>
              <a:rPr lang="en-IN" sz="1500"/>
              <a:t>This Tic-Tac-Toe application successfully demonstrates:</a:t>
            </a:r>
          </a:p>
          <a:p>
            <a:pPr lvl="1"/>
            <a:r>
              <a:rPr lang="en-IN" sz="1500" b="1"/>
              <a:t>Programming Fundamentals</a:t>
            </a:r>
            <a:r>
              <a:rPr lang="en-IN" sz="1500"/>
              <a:t>: Proper use of variables, functions, and control structures</a:t>
            </a:r>
          </a:p>
          <a:p>
            <a:pPr lvl="1"/>
            <a:r>
              <a:rPr lang="en-IN" sz="1500" b="1"/>
              <a:t>GUI Development</a:t>
            </a:r>
            <a:r>
              <a:rPr lang="en-IN" sz="1500"/>
              <a:t>: Creating interactive user interfaces with Python </a:t>
            </a:r>
            <a:r>
              <a:rPr lang="en-IN" sz="1500" err="1"/>
              <a:t>Tkinter</a:t>
            </a:r>
            <a:endParaRPr lang="en-IN" sz="1500"/>
          </a:p>
          <a:p>
            <a:pPr lvl="1"/>
            <a:r>
              <a:rPr lang="en-IN" sz="1500" b="1"/>
              <a:t>Algorithm Implementation</a:t>
            </a:r>
            <a:r>
              <a:rPr lang="en-IN" sz="1500"/>
              <a:t>: Game logic, win detection, and AI strategy</a:t>
            </a:r>
          </a:p>
          <a:p>
            <a:pPr lvl="1"/>
            <a:r>
              <a:rPr lang="en-IN" sz="1500" b="1"/>
              <a:t>Problem Solving</a:t>
            </a:r>
            <a:r>
              <a:rPr lang="en-IN" sz="1500"/>
              <a:t>: Breaking down complex problems into manageable components</a:t>
            </a:r>
          </a:p>
          <a:p>
            <a:pPr lvl="1"/>
            <a:r>
              <a:rPr lang="en-IN" sz="1500" b="1"/>
              <a:t>Code Organization</a:t>
            </a:r>
            <a:r>
              <a:rPr lang="en-IN" sz="1500"/>
              <a:t>: Writing clean, readable, and maintainable code</a:t>
            </a:r>
          </a:p>
          <a:p>
            <a:pPr marL="0" indent="0">
              <a:buNone/>
            </a:pPr>
            <a:r>
              <a:rPr lang="en-IN" sz="1500" b="1"/>
              <a:t>Real-World Applications</a:t>
            </a:r>
          </a:p>
          <a:p>
            <a:pPr marL="0" indent="0">
              <a:buNone/>
            </a:pPr>
            <a:r>
              <a:rPr lang="en-IN" sz="1500"/>
              <a:t>The concepts learned in this project are applicable to:</a:t>
            </a:r>
          </a:p>
          <a:p>
            <a:pPr lvl="1"/>
            <a:r>
              <a:rPr lang="en-IN" sz="1500"/>
              <a:t>Mobile app development</a:t>
            </a:r>
          </a:p>
          <a:p>
            <a:pPr lvl="1"/>
            <a:r>
              <a:rPr lang="en-IN" sz="1500"/>
              <a:t>Web application development</a:t>
            </a:r>
          </a:p>
          <a:p>
            <a:pPr lvl="1"/>
            <a:r>
              <a:rPr lang="en-IN" sz="1500"/>
              <a:t>Game development industry</a:t>
            </a:r>
          </a:p>
          <a:p>
            <a:pPr lvl="1"/>
            <a:r>
              <a:rPr lang="en-IN" sz="1500"/>
              <a:t>Human-computer interaction design</a:t>
            </a:r>
          </a:p>
          <a:p>
            <a:endParaRPr lang="en-IN" sz="15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3" y="3388659"/>
            <a:ext cx="36576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BF9B298-BC35-4C0F-8301-5D63A1E6D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42859" y="1679571"/>
            <a:ext cx="3498864" cy="3498858"/>
            <a:chOff x="7942859" y="1679571"/>
            <a:chExt cx="3498864" cy="349885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42859" y="1679571"/>
              <a:ext cx="3498864" cy="3498858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27958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925683-C9E8-4175-7ED8-4BE4E701E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1968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IN" sz="3000">
                <a:solidFill>
                  <a:schemeClr val="bg1">
                    <a:shade val="97000"/>
                    <a:satMod val="150000"/>
                  </a:schemeClr>
                </a:solidFill>
              </a:rPr>
              <a:t>CONCLUSION</a:t>
            </a:r>
            <a:endParaRPr lang="en-US" sz="3000">
              <a:solidFill>
                <a:schemeClr val="bg1">
                  <a:shade val="97000"/>
                  <a:satMod val="1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715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24DAC-D276-009B-BFB5-9654E8162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50" y="844902"/>
            <a:ext cx="5818858" cy="516819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700" b="1"/>
              <a:t>Books and References</a:t>
            </a:r>
          </a:p>
          <a:p>
            <a:r>
              <a:rPr lang="en-IN" sz="1700" b="1"/>
              <a:t>”Computer Science with Python" </a:t>
            </a:r>
            <a:r>
              <a:rPr lang="en-IN" sz="1700" i="1"/>
              <a:t>Author: Sumita Arora</a:t>
            </a:r>
          </a:p>
          <a:p>
            <a:r>
              <a:rPr lang="en-IN" sz="1700" b="1"/>
              <a:t>”Computer Science Textbook for Class XI" </a:t>
            </a:r>
            <a:r>
              <a:rPr lang="en-IN" sz="1700" i="1"/>
              <a:t>– NCERT</a:t>
            </a:r>
          </a:p>
          <a:p>
            <a:pPr marL="0" indent="0">
              <a:buNone/>
            </a:pPr>
            <a:r>
              <a:rPr lang="en-IN" sz="1700" b="1"/>
              <a:t>Online Resources</a:t>
            </a:r>
          </a:p>
          <a:p>
            <a:r>
              <a:rPr lang="en-IN" sz="1700" b="1"/>
              <a:t>Python Official Documentation</a:t>
            </a:r>
            <a:br>
              <a:rPr lang="en-IN" sz="1700"/>
            </a:br>
            <a:r>
              <a:rPr lang="en-IN" sz="1700" i="1"/>
              <a:t>URL: </a:t>
            </a:r>
            <a:r>
              <a:rPr lang="en-IN" sz="1700" i="1">
                <a:hlinkClick r:id="rId2"/>
              </a:rPr>
              <a:t>https://docs.python.org/3/</a:t>
            </a:r>
            <a:endParaRPr lang="en-IN" sz="1700"/>
          </a:p>
          <a:p>
            <a:r>
              <a:rPr lang="en-IN" sz="1700" b="1" err="1"/>
              <a:t>Tkinter</a:t>
            </a:r>
            <a:r>
              <a:rPr lang="en-IN" sz="1700" b="1"/>
              <a:t> Documentation</a:t>
            </a:r>
            <a:br>
              <a:rPr lang="en-IN" sz="1700"/>
            </a:br>
            <a:r>
              <a:rPr lang="en-IN" sz="1700" i="1"/>
              <a:t>URL: </a:t>
            </a:r>
            <a:r>
              <a:rPr lang="en-IN" sz="1700" i="1">
                <a:hlinkClick r:id="rId3"/>
              </a:rPr>
              <a:t>https://docs.python.org/3/library/tkinter.html</a:t>
            </a:r>
            <a:endParaRPr lang="en-IN" sz="1700" i="1"/>
          </a:p>
          <a:p>
            <a:pPr marL="0" indent="0">
              <a:buNone/>
            </a:pPr>
            <a:r>
              <a:rPr lang="en-IN" sz="1700" b="1"/>
              <a:t>Programming Communities</a:t>
            </a:r>
          </a:p>
          <a:p>
            <a:r>
              <a:rPr lang="en-IN" sz="1700" b="1"/>
              <a:t>Stack Overflow</a:t>
            </a:r>
            <a:br>
              <a:rPr lang="en-IN" sz="1700"/>
            </a:br>
            <a:r>
              <a:rPr lang="en-IN" sz="1700" i="1"/>
              <a:t>URL: </a:t>
            </a:r>
            <a:r>
              <a:rPr lang="en-IN" sz="1700" i="1">
                <a:hlinkClick r:id="rId4"/>
              </a:rPr>
              <a:t>https://stackoverflow.com/questions/tagged/python</a:t>
            </a:r>
            <a:br>
              <a:rPr lang="en-IN" sz="1700"/>
            </a:br>
            <a:r>
              <a:rPr lang="en-IN" sz="1700" i="1"/>
              <a:t>For troubleshooting and problem-solving</a:t>
            </a:r>
            <a:endParaRPr lang="en-IN" sz="1700"/>
          </a:p>
          <a:p>
            <a:r>
              <a:rPr lang="en-IN" sz="1700" b="1" err="1"/>
              <a:t>Python.org</a:t>
            </a:r>
            <a:r>
              <a:rPr lang="en-IN" sz="1700" b="1"/>
              <a:t> Community</a:t>
            </a:r>
            <a:br>
              <a:rPr lang="en-IN" sz="1700"/>
            </a:br>
            <a:r>
              <a:rPr lang="en-IN" sz="1700" i="1"/>
              <a:t>URL: </a:t>
            </a:r>
            <a:r>
              <a:rPr lang="en-IN" sz="1700" i="1">
                <a:hlinkClick r:id="rId5"/>
              </a:rPr>
              <a:t>https://www.python.org/community/</a:t>
            </a:r>
            <a:br>
              <a:rPr lang="en-IN" sz="1700"/>
            </a:br>
            <a:r>
              <a:rPr lang="en-IN" sz="1700" i="1"/>
              <a:t>For Python programming best practices</a:t>
            </a:r>
            <a:br>
              <a:rPr lang="en-IN" sz="1700"/>
            </a:br>
            <a:endParaRPr lang="en-US" sz="17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3" y="3388659"/>
            <a:ext cx="3657600" cy="80683"/>
          </a:xfrm>
          <a:prstGeom prst="rect">
            <a:avLst/>
          </a:prstGeom>
          <a:blipFill dpi="0" rotWithShape="1">
            <a:blip r:embed="rId6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BF9B298-BC35-4C0F-8301-5D63A1E6D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42859" y="1679571"/>
            <a:ext cx="3498864" cy="3498858"/>
            <a:chOff x="7942859" y="1679571"/>
            <a:chExt cx="3498864" cy="349885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42859" y="1679571"/>
              <a:ext cx="3498864" cy="3498858"/>
            </a:xfrm>
            <a:prstGeom prst="ellipse">
              <a:avLst/>
            </a:prstGeom>
            <a:blipFill dpi="0" rotWithShape="1">
              <a:blip r:embed="rId8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27958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0445E5-69FA-502D-6DC4-8BF149C09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1968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IN" sz="2800">
                <a:solidFill>
                  <a:schemeClr val="bg1">
                    <a:shade val="97000"/>
                    <a:satMod val="150000"/>
                  </a:schemeClr>
                </a:solidFill>
              </a:rPr>
              <a:t>BIBLIOGRAPHY</a:t>
            </a:r>
            <a:endParaRPr lang="en-US" sz="2800">
              <a:solidFill>
                <a:schemeClr val="bg1">
                  <a:shade val="97000"/>
                  <a:satMod val="1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978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A3D0CE2-91FF-49B3-A5D8-181E900D7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AEBD96-C315-4F53-9D9E-0E20E993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916AAA-66F6-4DFA-88ED-7E27CF6B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137D43F-BAD6-47F1-AA65-AEEA38A2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512C9B2-6B22-4211-A940-FCD7C2CD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5F7DB84-CDE7-46F8-90DD-9D048A7D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8035907-EB9C-4E11-8A9B-D25B0AD8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78747-D03F-AA57-7B16-D502A82BF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7524" y="2064730"/>
            <a:ext cx="2942706" cy="2728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Clr>
                <a:schemeClr val="accent1">
                  <a:lumMod val="75000"/>
                </a:schemeClr>
              </a:buClr>
              <a:buNone/>
            </a:pPr>
            <a:r>
              <a:rPr lang="en-US" sz="2800">
                <a:solidFill>
                  <a:schemeClr val="tx2"/>
                </a:solidFill>
              </a:rPr>
              <a:t>Github: </a:t>
            </a:r>
            <a:r>
              <a:rPr lang="en-US" sz="2800">
                <a:solidFill>
                  <a:schemeClr val="tx2"/>
                </a:solidFill>
                <a:hlinkClick r:id="rId6"/>
              </a:rPr>
              <a:t>https://github.com/meet2gunisha-lang/tictactoe#</a:t>
            </a:r>
            <a:r>
              <a:rPr lang="en-US" sz="2800">
                <a:solidFill>
                  <a:schemeClr val="tx2"/>
                </a:solidFill>
              </a:rPr>
              <a:t>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CFDD4A-4FA1-4CD9-90D5-E253C2040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14818" y="720071"/>
            <a:ext cx="5417868" cy="5417858"/>
            <a:chOff x="1311770" y="720071"/>
            <a:chExt cx="5417868" cy="541785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AB5B6FA-7B4F-437A-9C78-144C7DCD1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1770" y="720071"/>
              <a:ext cx="5417868" cy="5417858"/>
            </a:xfrm>
            <a:prstGeom prst="ellipse">
              <a:avLst/>
            </a:prstGeom>
            <a:blipFill dpi="0" rotWithShape="1"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4199C21-6AE0-4F6F-AA96-6FFF97BB9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8390" y="1006688"/>
              <a:ext cx="4844628" cy="4844620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503929-BBA0-C955-58D4-A699BE415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7507" y="1316890"/>
            <a:ext cx="4606394" cy="42242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5600" cap="all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C69FA7-0958-4ED9-A0DF-E87A0C13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5208" y="3388657"/>
            <a:ext cx="36576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0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7DC8B-8688-8F47-AC94-D5DE3838A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288A6F5-8D1F-4A9E-A403-66331D0DD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024FCB-4926-410B-85FF-191ADB1EE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82762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07D6E4A-46B6-44CC-AC6E-2DD00DABA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AFD3B47-DA6C-4208-B8BE-7ECBC7ECB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80E4DF5-9537-49C7-A006-BCEC784A2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30DD2DF-8124-4BFB-9ADA-DC59BF10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5BCF251-4434-4B79-8A80-86EB308CF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92A8B5-49A7-4E21-A142-4CDD07944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4C910B4-CEC2-4051-A122-FB145151C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3" y="1110053"/>
            <a:ext cx="6631431" cy="458030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ECBB79-990D-4EAB-EC2F-BD0F2D19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156" y="1432223"/>
            <a:ext cx="5965470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8000" b="1" kern="1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28" name="Graphic 27" descr="Smiling Face with No Fill">
            <a:extLst>
              <a:ext uri="{FF2B5EF4-FFF2-40B4-BE49-F238E27FC236}">
                <a16:creationId xmlns:a16="http://schemas.microsoft.com/office/drawing/2014/main" id="{0CC628AC-6442-FB69-C2D6-424AA5F31B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55117" y="1702032"/>
            <a:ext cx="3416725" cy="3416725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0C847782-BA26-41B0-A845-49960A7A7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C0D9095-1BC3-4171-B64F-34AE44CA9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464CF78-ACE0-41B2-B840-72B152A79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3EFBA91-D3E3-4C6C-A3F5-B33469A0E0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254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84ACB6"/>
      </a:dk2>
      <a:lt2>
        <a:srgbClr val="EBE9DD"/>
      </a:lt2>
      <a:accent1>
        <a:srgbClr val="6F8183"/>
      </a:accent1>
      <a:accent2>
        <a:srgbClr val="967E96"/>
      </a:accent2>
      <a:accent3>
        <a:srgbClr val="CCC893"/>
      </a:accent3>
      <a:accent4>
        <a:srgbClr val="A54D74"/>
      </a:accent4>
      <a:accent5>
        <a:srgbClr val="949C6B"/>
      </a:accent5>
      <a:accent6>
        <a:srgbClr val="766A50"/>
      </a:accent6>
      <a:hlink>
        <a:srgbClr val="CC6600"/>
      </a:hlink>
      <a:folHlink>
        <a:srgbClr val="77777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8E89CD47-BF55-4DDE-B823-2283AA7E76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13</TotalTime>
  <Words>680</Words>
  <Application>Microsoft Macintosh PowerPoint</Application>
  <PresentationFormat>Widescreen</PresentationFormat>
  <Paragraphs>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-apple-system</vt:lpstr>
      <vt:lpstr>AkayaTelivigala</vt:lpstr>
      <vt:lpstr>Aparajita</vt:lpstr>
      <vt:lpstr>Aptos</vt:lpstr>
      <vt:lpstr>Aptos Display</vt:lpstr>
      <vt:lpstr>Calibri</vt:lpstr>
      <vt:lpstr>Rockwell Extra Bold</vt:lpstr>
      <vt:lpstr>Wingdings</vt:lpstr>
      <vt:lpstr>Wood Type</vt:lpstr>
      <vt:lpstr>INTERACTIVE  TIC-TAC-TOE GAME</vt:lpstr>
      <vt:lpstr>ACKNOWLEDGMENTS</vt:lpstr>
      <vt:lpstr>PROJECT OVERVIEW</vt:lpstr>
      <vt:lpstr>TIC TAC TOE</vt:lpstr>
      <vt:lpstr>Easy vs Hard Mode</vt:lpstr>
      <vt:lpstr>LIBRARIES USED</vt:lpstr>
      <vt:lpstr>APPLICATION SCREENSHOTS</vt:lpstr>
      <vt:lpstr>APPLICATION SCREENSHOTS</vt:lpstr>
      <vt:lpstr>APPLICATION SCREENSHOTS</vt:lpstr>
      <vt:lpstr>APPLICATION SCREENSHOTS</vt:lpstr>
      <vt:lpstr>APPLICATION CODE SAMPLE</vt:lpstr>
      <vt:lpstr>SCOPE FOR FUTURE DEVELOPMENT (GRADE 12)</vt:lpstr>
      <vt:lpstr>CONCLUSION</vt:lpstr>
      <vt:lpstr>BIBLIOGRAPHY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Agarwal</dc:creator>
  <cp:lastModifiedBy>Ankit Agarwal</cp:lastModifiedBy>
  <cp:revision>4</cp:revision>
  <dcterms:created xsi:type="dcterms:W3CDTF">2025-12-21T13:16:42Z</dcterms:created>
  <dcterms:modified xsi:type="dcterms:W3CDTF">2025-12-21T14:51:28Z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a753e-b937-4727-8173-58e965e4ef41_Enabled">
    <vt:lpwstr>true</vt:lpwstr>
  </property>
  <property fmtid="{D5CDD505-2E9C-101B-9397-08002B2CF9AE}" pid="3" name="MSIP_Label_444a753e-b937-4727-8173-58e965e4ef41_SetDate">
    <vt:lpwstr>2025-12-21T14:36:40Z</vt:lpwstr>
  </property>
  <property fmtid="{D5CDD505-2E9C-101B-9397-08002B2CF9AE}" pid="4" name="MSIP_Label_444a753e-b937-4727-8173-58e965e4ef41_Method">
    <vt:lpwstr>Standard</vt:lpwstr>
  </property>
  <property fmtid="{D5CDD505-2E9C-101B-9397-08002B2CF9AE}" pid="5" name="MSIP_Label_444a753e-b937-4727-8173-58e965e4ef41_Name">
    <vt:lpwstr>0a306a40-471c-426e-91d6-468476917b5e</vt:lpwstr>
  </property>
  <property fmtid="{D5CDD505-2E9C-101B-9397-08002B2CF9AE}" pid="6" name="MSIP_Label_444a753e-b937-4727-8173-58e965e4ef41_SiteId">
    <vt:lpwstr>3cbcc3d3-094d-4006-9849-0d11d61f484d</vt:lpwstr>
  </property>
  <property fmtid="{D5CDD505-2E9C-101B-9397-08002B2CF9AE}" pid="7" name="MSIP_Label_444a753e-b937-4727-8173-58e965e4ef41_ActionId">
    <vt:lpwstr>95d223f5-e27c-46ea-9262-afb5d04efa37</vt:lpwstr>
  </property>
  <property fmtid="{D5CDD505-2E9C-101B-9397-08002B2CF9AE}" pid="8" name="MSIP_Label_444a753e-b937-4727-8173-58e965e4ef41_ContentBits">
    <vt:lpwstr>0</vt:lpwstr>
  </property>
  <property fmtid="{D5CDD505-2E9C-101B-9397-08002B2CF9AE}" pid="9" name="MSIP_Label_444a753e-b937-4727-8173-58e965e4ef41_Tag">
    <vt:lpwstr>50, 3, 0, 1</vt:lpwstr>
  </property>
</Properties>
</file>